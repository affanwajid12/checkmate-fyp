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3" r:id="rId4"/>
    <p:sldId id="264" r:id="rId5"/>
    <p:sldId id="265" r:id="rId6"/>
    <p:sldId id="266" r:id="rId7"/>
    <p:sldId id="267" r:id="rId8"/>
    <p:sldId id="260" r:id="rId9"/>
    <p:sldId id="268" r:id="rId10"/>
    <p:sldId id="261" r:id="rId11"/>
    <p:sldId id="269" r:id="rId12"/>
    <p:sldId id="271" r:id="rId13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8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F773C-FFDF-4AB9-807C-463DC5FEFF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8CC5C5-CB54-4527-B134-9A8F1A2989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0A3F12-2E47-4631-BF48-C8142E337B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4BEB3-B506-4F81-A3FC-A9E28AC95571}" type="datetimeFigureOut">
              <a:rPr lang="en-PK" smtClean="0"/>
              <a:t>19-Sep-2025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97E919-6CEF-4BD0-AF5B-03E4D2CE97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2317B4-EFD3-476B-9CEB-6A01AF7C5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B21CC-F4D3-439B-854A-A66E820254F8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386068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4EDCF-77C1-4B92-A27C-5659D7057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42103D-24BB-4D57-8B1C-873DD324AE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131BA2-69B0-42CF-8926-FBC157F6FB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4BEB3-B506-4F81-A3FC-A9E28AC95571}" type="datetimeFigureOut">
              <a:rPr lang="en-PK" smtClean="0"/>
              <a:t>19-Sep-2025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2A37CB-2C4B-4C3E-BA7E-4CA96158F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69ECB8-9ECC-45C0-B903-40F7D2BF9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B21CC-F4D3-439B-854A-A66E820254F8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5591883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489D1-63D3-48F5-AABC-3F15C67F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AED462-4ACC-477B-84BD-890F850CEE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837431-4B21-4473-9948-8D70EE570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4BEB3-B506-4F81-A3FC-A9E28AC95571}" type="datetimeFigureOut">
              <a:rPr lang="en-PK" smtClean="0"/>
              <a:t>19-Sep-2025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DBD5F7-1479-49BE-9F23-CB7E1B85C6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A3BB59-40F8-41D5-8407-A9F62D56C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B21CC-F4D3-439B-854A-A66E820254F8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5145665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3F952-A8D7-4891-A4C7-8F7CBC645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50B3EA-A569-4378-871B-D918B41BF1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7335A3-778A-48C1-812C-DD9116A652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09BF38-E3C0-4117-8FDD-FFEBCA22F4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4BEB3-B506-4F81-A3FC-A9E28AC95571}" type="datetimeFigureOut">
              <a:rPr lang="en-PK" smtClean="0"/>
              <a:t>19-Sep-2025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048D6C-385B-4D97-BCD7-D25E983715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122E29-358F-40DD-BE44-4B955BED4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B21CC-F4D3-439B-854A-A66E820254F8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2686474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9FCC7-3E8B-4C39-ABA3-B25872A70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972A5A-752B-4D3E-B0E9-4481B5EDEA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2CBEFA-4917-4895-B7E4-1FF3D09D4F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8A2162-D099-4AE0-8627-5A75DC1E0A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8295A76-50D4-4C79-8E43-747FDB5347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53D2C4A-F2D7-4775-87C2-C814E713A4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4BEB3-B506-4F81-A3FC-A9E28AC95571}" type="datetimeFigureOut">
              <a:rPr lang="en-PK" smtClean="0"/>
              <a:t>19-Sep-2025</a:t>
            </a:fld>
            <a:endParaRPr lang="en-P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624E97-E907-4C9E-B00D-6CAB67DA27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14F084-CE27-4A4A-8B65-E82494CD7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B21CC-F4D3-439B-854A-A66E820254F8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0359672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BBD80-47BD-4D96-9278-4D01CA20D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343D61-06D8-4290-B4B9-4288D14F5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4BEB3-B506-4F81-A3FC-A9E28AC95571}" type="datetimeFigureOut">
              <a:rPr lang="en-PK" smtClean="0"/>
              <a:t>19-Sep-2025</a:t>
            </a:fld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A88B0C-2F2F-47E3-BCC2-A92468CCB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6C0A87-1378-4785-B04B-7A8DFFF14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B21CC-F4D3-439B-854A-A66E820254F8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6220188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E42D406-C41F-42E7-B7C1-EA469AD0CA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4BEB3-B506-4F81-A3FC-A9E28AC95571}" type="datetimeFigureOut">
              <a:rPr lang="en-PK" smtClean="0"/>
              <a:t>19-Sep-2025</a:t>
            </a:fld>
            <a:endParaRPr lang="en-P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B1A6DD-43E4-4849-926D-40833E88D1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18A2FC-4E7A-483A-BCF3-7FD1BD31B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B21CC-F4D3-439B-854A-A66E820254F8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2415518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0F2DB-02B9-496E-ACC3-36D08184F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A83AFD-5272-4320-94AA-36AF6E8D52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2BA69E-8AE6-44B2-B65C-B61D114A8D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3AA9FC-A80B-4D0A-846E-1B2EB4DCDE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4BEB3-B506-4F81-A3FC-A9E28AC95571}" type="datetimeFigureOut">
              <a:rPr lang="en-PK" smtClean="0"/>
              <a:t>19-Sep-2025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A3EAF7-C294-420B-BACF-A7153BB56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81EEA9-3D8B-42FE-9DF7-F0F424EAD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B21CC-F4D3-439B-854A-A66E820254F8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038730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C5E37-EC9C-4EB6-9622-4EA6E5F16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8CD9B94-B641-4BE4-A765-66C566CE0C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AD3886-A111-4F24-80EC-5A3FDA1458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647E72-9B6E-497D-8923-1C46EC38F5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4BEB3-B506-4F81-A3FC-A9E28AC95571}" type="datetimeFigureOut">
              <a:rPr lang="en-PK" smtClean="0"/>
              <a:t>19-Sep-2025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199E6A-79BE-4B90-915A-16CFDB1BF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24FF3B-BF34-4AF7-A969-6BB4AD681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B21CC-F4D3-439B-854A-A66E820254F8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0531290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BCB5E-8400-4F28-9E10-0394189FD1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71C583-332E-4A6F-BD00-48459FE0A6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0BD8B4-CA0C-4F25-9A4F-DC26756470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4BEB3-B506-4F81-A3FC-A9E28AC95571}" type="datetimeFigureOut">
              <a:rPr lang="en-PK" smtClean="0"/>
              <a:t>19-Sep-2025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BEF5F7-E325-4E5A-89B2-A5F7E4E54C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6214C5-DD2E-4767-B220-DDFE2EB4F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B21CC-F4D3-439B-854A-A66E820254F8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510669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76C576-70FA-44A5-ACFD-D22D644975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AAA538-F12D-4333-A4FD-E1CF17D47F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EF3CB6-E195-47E2-9408-7447E7ABA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4BEB3-B506-4F81-A3FC-A9E28AC95571}" type="datetimeFigureOut">
              <a:rPr lang="en-PK" smtClean="0"/>
              <a:t>19-Sep-2025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9F8AA4-8514-4637-96E1-45DD39C4C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15FF7B-0D19-4C75-894C-1E6A723C1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B21CC-F4D3-439B-854A-A66E820254F8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4271064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73582A-62AE-487F-8BB8-410C2D208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1ABE22-49D0-4ED2-ACAD-1763FF60EB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BB50A4-5A15-44E3-8CE9-E00D15CDA7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34BEB3-B506-4F81-A3FC-A9E28AC95571}" type="datetimeFigureOut">
              <a:rPr lang="en-PK" smtClean="0"/>
              <a:t>19-Sep-2025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1C9403-89D7-407A-97F8-126AA4319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9ED1E9-73CD-40D8-B2E6-5424159AB3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9B21CC-F4D3-439B-854A-A66E820254F8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735607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89956-4EEF-41C3-9B00-76A426FCEAC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6000" b="1" i="0" u="none" strike="noStrike" baseline="0" dirty="0">
                <a:latin typeface="TimesNewRomanPS-BoldMT"/>
              </a:rPr>
              <a:t>Halstead’s Software Science</a:t>
            </a:r>
            <a:endParaRPr lang="en-PK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A47950-254A-4F0F-8842-748EB77FCD4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488154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605BA-3EEF-4698-840A-7D4419E21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62843"/>
            <a:ext cx="10515600" cy="1325563"/>
          </a:xfrm>
        </p:spPr>
        <p:txBody>
          <a:bodyPr/>
          <a:lstStyle/>
          <a:p>
            <a:pPr algn="ctr"/>
            <a:r>
              <a:rPr lang="en-US" sz="4400" b="1" i="0" u="none" strike="noStrike" baseline="0" dirty="0">
                <a:latin typeface="TimesNewRomanPS-BoldMT"/>
              </a:rPr>
              <a:t>Halstead’s Software Science</a:t>
            </a:r>
            <a:br>
              <a:rPr lang="en-US" sz="4400" b="1" i="0" u="none" strike="noStrike" baseline="0" dirty="0">
                <a:latin typeface="TimesNewRomanPS-BoldMT"/>
              </a:rPr>
            </a:b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002272-6575-4C47-8AD1-EC8BBB365C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US" sz="1800" b="0" i="0" u="none" strike="noStrike" baseline="0" dirty="0">
                <a:latin typeface="TimesNewRomanPSMT"/>
              </a:rPr>
              <a:t>Halstead’s complexity measurement was developed to measure a program module’s complexity</a:t>
            </a:r>
          </a:p>
          <a:p>
            <a:pPr algn="l"/>
            <a:r>
              <a:rPr lang="en-US" sz="1800" b="0" i="0" u="none" strike="noStrike" baseline="0" dirty="0">
                <a:latin typeface="Times New Roman" panose="02020603050405020304" pitchFamily="18" charset="0"/>
              </a:rPr>
              <a:t>directly from source code, with emphasis on computational complexity.</a:t>
            </a:r>
            <a:r>
              <a:rPr lang="en-US" sz="1800" b="0" i="0" u="none" strike="noStrike" baseline="0" dirty="0">
                <a:latin typeface="TimesNewRomanPSMT"/>
              </a:rPr>
              <a:t> The Halstead’s </a:t>
            </a:r>
            <a:r>
              <a:rPr lang="en-US" sz="1800" b="0" i="0" u="none" strike="noStrike" baseline="0" dirty="0">
                <a:latin typeface="Times New Roman" panose="02020603050405020304" pitchFamily="18" charset="0"/>
              </a:rPr>
              <a:t>measures are </a:t>
            </a:r>
            <a:r>
              <a:rPr lang="en-US" sz="1800" b="0" i="0" u="none" strike="noStrike" baseline="0" dirty="0">
                <a:latin typeface="TimesNewRomanPSMT"/>
              </a:rPr>
              <a:t>based on four scalar number derived directly from a program’s </a:t>
            </a:r>
            <a:r>
              <a:rPr lang="en-US" sz="1800" b="0" i="0" u="none" strike="noStrike" baseline="0" dirty="0">
                <a:latin typeface="Times New Roman" panose="02020603050405020304" pitchFamily="18" charset="0"/>
              </a:rPr>
              <a:t>source code:</a:t>
            </a:r>
            <a:endParaRPr lang="en-P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C92BF7-9B5E-4E9A-AB4E-7608B5AEEB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3356" y="3151188"/>
            <a:ext cx="7264773" cy="2190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43189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A0BA8-3A35-4FEE-A9AB-18E5F20250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1" i="0" dirty="0">
                <a:solidFill>
                  <a:srgbClr val="273239"/>
                </a:solidFill>
                <a:effectLst/>
                <a:latin typeface="Nunito" pitchFamily="2" charset="0"/>
              </a:rPr>
            </a:br>
            <a:r>
              <a:rPr lang="en-US" b="1" i="0" dirty="0">
                <a:solidFill>
                  <a:srgbClr val="273239"/>
                </a:solidFill>
                <a:effectLst/>
                <a:latin typeface="Nunito" pitchFamily="2" charset="0"/>
              </a:rPr>
              <a:t>Program length (N):</a:t>
            </a:r>
            <a:br>
              <a:rPr lang="en-US" b="1" i="0" dirty="0">
                <a:solidFill>
                  <a:srgbClr val="273239"/>
                </a:solidFill>
                <a:effectLst/>
                <a:latin typeface="Nunito" pitchFamily="2" charset="0"/>
              </a:rPr>
            </a:b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686660-B2C8-4840-ACF2-4AA7E535D4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 rtl="0" fontAlgn="base">
              <a:buNone/>
            </a:pP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This is the total number of operator and operand occurrences in the program.</a:t>
            </a:r>
          </a:p>
          <a:p>
            <a:endParaRPr lang="en-P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00EACB-AB41-4925-A03F-34766A89B8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9342" y="3121009"/>
            <a:ext cx="7093315" cy="615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95029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55A96-0131-407B-B290-BE5CC6B60E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1" i="0" dirty="0">
                <a:solidFill>
                  <a:srgbClr val="273239"/>
                </a:solidFill>
                <a:effectLst/>
                <a:latin typeface="Nunito" pitchFamily="2" charset="0"/>
              </a:rPr>
            </a:br>
            <a:r>
              <a:rPr lang="en-US" b="1" i="0" dirty="0">
                <a:solidFill>
                  <a:srgbClr val="273239"/>
                </a:solidFill>
                <a:effectLst/>
                <a:latin typeface="Nunito" pitchFamily="2" charset="0"/>
              </a:rPr>
              <a:t>Halstead Vocabulary</a:t>
            </a:r>
            <a:br>
              <a:rPr lang="en-US" b="1" i="0" dirty="0">
                <a:solidFill>
                  <a:srgbClr val="273239"/>
                </a:solidFill>
                <a:effectLst/>
                <a:latin typeface="Nunito" pitchFamily="2" charset="0"/>
              </a:rPr>
            </a:b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8D1F4A-3577-4870-AAFE-A3D444C6F8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The total number of unique operators and unique operand occurrences. </a:t>
            </a:r>
          </a:p>
          <a:p>
            <a:endParaRPr lang="en-PK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ACBACEB-0D77-4240-B70F-A59E1BB7D1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7140" y="2771883"/>
            <a:ext cx="8265929" cy="1229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34445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8A36F-619A-4ACE-86B4-B45D44C6EB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1" i="0" dirty="0">
                <a:solidFill>
                  <a:srgbClr val="273239"/>
                </a:solidFill>
                <a:effectLst/>
                <a:latin typeface="Nunito" pitchFamily="2" charset="0"/>
              </a:rPr>
            </a:br>
            <a:r>
              <a:rPr lang="en-US" b="1" i="0" dirty="0">
                <a:solidFill>
                  <a:srgbClr val="273239"/>
                </a:solidFill>
                <a:effectLst/>
                <a:latin typeface="Nunito" pitchFamily="2" charset="0"/>
              </a:rPr>
              <a:t>Program Volume</a:t>
            </a:r>
            <a:br>
              <a:rPr lang="en-US" b="1" i="0" dirty="0">
                <a:solidFill>
                  <a:srgbClr val="273239"/>
                </a:solidFill>
                <a:effectLst/>
                <a:latin typeface="Nunito" pitchFamily="2" charset="0"/>
              </a:rPr>
            </a:b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56C3AE-1BCD-4936-A19A-BFE22AD928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 rtl="0" fontAlgn="base">
              <a:buNone/>
            </a:pP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Proportional to program size, represents the size, in bits, of space necessary for storing the program. </a:t>
            </a:r>
          </a:p>
          <a:p>
            <a:pPr marL="0" indent="0" algn="l" rtl="0" fontAlgn="base">
              <a:buNone/>
            </a:pPr>
            <a:r>
              <a:rPr lang="en-US" dirty="0">
                <a:solidFill>
                  <a:srgbClr val="273239"/>
                </a:solidFill>
                <a:latin typeface="Nunito" pitchFamily="2" charset="0"/>
              </a:rPr>
              <a:t>                </a:t>
            </a:r>
            <a:endParaRPr lang="en-P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735A0C-3440-46CE-9DCE-A531648113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9342" y="3159111"/>
            <a:ext cx="7093315" cy="748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96012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E60AE-0F55-4CB2-A646-1EE7C8C99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Program difficulty</a:t>
            </a:r>
            <a:endParaRPr lang="en-PK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D98F44-6174-41E2-B4FC-0049B16225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This parameter shows how difficult to handle the program is. </a:t>
            </a:r>
            <a:endParaRPr lang="en-PK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D6BC35-CAFA-40E0-B618-87D823DFCB62}"/>
              </a:ext>
            </a:extLst>
          </p:cNvPr>
          <p:cNvSpPr txBox="1"/>
          <p:nvPr/>
        </p:nvSpPr>
        <p:spPr>
          <a:xfrm>
            <a:off x="2683042" y="2852104"/>
            <a:ext cx="6097604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pt-BR" b="1" i="1" dirty="0">
                <a:solidFill>
                  <a:srgbClr val="273239"/>
                </a:solidFill>
                <a:effectLst/>
                <a:latin typeface="Nunito" pitchFamily="2" charset="0"/>
              </a:rPr>
              <a:t>D = (n1 / 2) * (N2 / n2) 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4135832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0E98E-160A-4E82-9C62-7BA46DC6C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Program Effort</a:t>
            </a:r>
            <a:endParaRPr lang="en-PK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07B8BF-231A-4462-812E-90F74ED936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Measures the amount of mental activity needed to translate the existing algorithm into implementation in the specified program language. </a:t>
            </a:r>
            <a:endParaRPr lang="en-PK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81E7AB-E40B-406C-8A1A-4C33B4FF9A7C}"/>
              </a:ext>
            </a:extLst>
          </p:cNvPr>
          <p:cNvSpPr txBox="1"/>
          <p:nvPr/>
        </p:nvSpPr>
        <p:spPr>
          <a:xfrm>
            <a:off x="3048802" y="3246740"/>
            <a:ext cx="6097604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it-IT" b="1" i="1" dirty="0">
                <a:solidFill>
                  <a:srgbClr val="273239"/>
                </a:solidFill>
                <a:effectLst/>
                <a:latin typeface="Nunito" pitchFamily="2" charset="0"/>
              </a:rPr>
              <a:t>E = D * V = Difficulty * Volume 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6149982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D959BC-CAF7-4C63-BDD1-96C42DFE4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Guidelines for calculating operators and operands 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CE49CF-A943-49ED-808F-6C3CDA29DF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1800" b="0" i="0" u="none" strike="noStrike" baseline="0" dirty="0">
                <a:latin typeface="Times New Roman" panose="02020603050405020304" pitchFamily="18" charset="0"/>
              </a:rPr>
              <a:t>1. All the variables and constants are considered as operands.</a:t>
            </a:r>
          </a:p>
          <a:p>
            <a:pPr marL="0" indent="0" algn="l">
              <a:buNone/>
            </a:pPr>
            <a:r>
              <a:rPr lang="en-US" sz="1800" b="0" i="0" u="none" strike="noStrike" baseline="0" dirty="0">
                <a:latin typeface="Times New Roman" panose="02020603050405020304" pitchFamily="18" charset="0"/>
              </a:rPr>
              <a:t>2. Local variables with same name, if occurring in different functions are counted as unique</a:t>
            </a:r>
          </a:p>
          <a:p>
            <a:pPr marL="0" indent="0" algn="l">
              <a:buNone/>
            </a:pPr>
            <a:r>
              <a:rPr lang="en-US" sz="1800" b="0" i="0" u="none" strike="noStrike" baseline="0" dirty="0">
                <a:latin typeface="Times New Roman" panose="02020603050405020304" pitchFamily="18" charset="0"/>
              </a:rPr>
              <a:t>operand.</a:t>
            </a:r>
          </a:p>
          <a:p>
            <a:pPr marL="0" indent="0" algn="l">
              <a:buNone/>
            </a:pPr>
            <a:r>
              <a:rPr lang="en-US" sz="1800" b="0" i="0" u="none" strike="noStrike" baseline="0" dirty="0">
                <a:latin typeface="Times New Roman" panose="02020603050405020304" pitchFamily="18" charset="0"/>
              </a:rPr>
              <a:t>3. Function calls are considered as operators.</a:t>
            </a:r>
          </a:p>
          <a:p>
            <a:pPr marL="0" indent="0" algn="l">
              <a:buNone/>
            </a:pPr>
            <a:r>
              <a:rPr lang="en-US" sz="1800" b="0" i="0" u="none" strike="noStrike" baseline="0" dirty="0">
                <a:latin typeface="Times New Roman" panose="02020603050405020304" pitchFamily="18" charset="0"/>
              </a:rPr>
              <a:t>4. </a:t>
            </a:r>
            <a:r>
              <a:rPr lang="en-US" sz="1800" b="0" i="0" u="none" strike="noStrike" baseline="0" dirty="0">
                <a:latin typeface="TimesNewRomanPSMT"/>
              </a:rPr>
              <a:t>The looping statements, do … while, while, for, are operators. The statements if, if …</a:t>
            </a:r>
          </a:p>
          <a:p>
            <a:pPr marL="0" indent="0" algn="l">
              <a:buNone/>
            </a:pPr>
            <a:r>
              <a:rPr lang="en-US" sz="1800" b="0" i="0" u="none" strike="noStrike" baseline="0" dirty="0">
                <a:latin typeface="TimesNewRomanPSMT"/>
              </a:rPr>
              <a:t>else, are operators. The switch … case statements are considered as oper</a:t>
            </a:r>
            <a:r>
              <a:rPr lang="en-US" sz="1800" b="0" i="0" u="none" strike="noStrike" baseline="0" dirty="0">
                <a:latin typeface="Times New Roman" panose="02020603050405020304" pitchFamily="18" charset="0"/>
              </a:rPr>
              <a:t>ators.</a:t>
            </a:r>
          </a:p>
          <a:p>
            <a:pPr marL="0" indent="0" algn="l">
              <a:buNone/>
            </a:pPr>
            <a:r>
              <a:rPr lang="en-US" sz="1800" b="0" i="0" u="none" strike="noStrike" baseline="0" dirty="0">
                <a:latin typeface="Times New Roman" panose="02020603050405020304" pitchFamily="18" charset="0"/>
              </a:rPr>
              <a:t>5. The reserve worlds, returns, default, continue, break, </a:t>
            </a:r>
            <a:r>
              <a:rPr lang="en-US" sz="1800" b="0" i="0" u="none" strike="noStrike" baseline="0" dirty="0" err="1">
                <a:latin typeface="Times New Roman" panose="02020603050405020304" pitchFamily="18" charset="0"/>
              </a:rPr>
              <a:t>sizeof</a:t>
            </a:r>
            <a:r>
              <a:rPr lang="en-US" sz="1800" b="0" i="0" u="none" strike="noStrike" baseline="0" dirty="0">
                <a:latin typeface="Times New Roman" panose="02020603050405020304" pitchFamily="18" charset="0"/>
              </a:rPr>
              <a:t> are all operators.</a:t>
            </a:r>
          </a:p>
          <a:p>
            <a:pPr marL="0" indent="0" algn="l">
              <a:buNone/>
            </a:pPr>
            <a:r>
              <a:rPr lang="en-US" sz="1800" b="0" i="0" u="none" strike="noStrike" baseline="0" dirty="0">
                <a:latin typeface="Times New Roman" panose="02020603050405020304" pitchFamily="18" charset="0"/>
              </a:rPr>
              <a:t>6. The brackets, commas, semicolons, are operators.</a:t>
            </a:r>
          </a:p>
          <a:p>
            <a:pPr marL="0" indent="0" algn="l">
              <a:buNone/>
            </a:pPr>
            <a:r>
              <a:rPr lang="en-US" sz="1800" b="0" i="0" u="none" strike="noStrike" baseline="0" dirty="0">
                <a:latin typeface="Times New Roman" panose="02020603050405020304" pitchFamily="18" charset="0"/>
              </a:rPr>
              <a:t>7. The unary and binary operators are considered as operators. The &amp; is considered as</a:t>
            </a:r>
          </a:p>
          <a:p>
            <a:pPr marL="0" indent="0" algn="l">
              <a:buNone/>
            </a:pPr>
            <a:r>
              <a:rPr lang="en-US" sz="1800" b="0" i="0" u="none" strike="noStrike" baseline="0" dirty="0">
                <a:latin typeface="Times New Roman" panose="02020603050405020304" pitchFamily="18" charset="0"/>
              </a:rPr>
              <a:t>operator.</a:t>
            </a:r>
          </a:p>
          <a:p>
            <a:pPr marL="0" indent="0" algn="l">
              <a:buNone/>
            </a:pPr>
            <a:r>
              <a:rPr lang="en-US" sz="1800" b="0" i="0" u="none" strike="noStrike" baseline="0" dirty="0">
                <a:latin typeface="Times New Roman" panose="02020603050405020304" pitchFamily="18" charset="0"/>
              </a:rPr>
              <a:t>8. In arrays, array name and index are considered as operands and [ ] is considered as</a:t>
            </a:r>
          </a:p>
          <a:p>
            <a:pPr marL="0" indent="0" algn="l">
              <a:buNone/>
            </a:pPr>
            <a:r>
              <a:rPr lang="en-US" sz="1800" b="0" i="0" u="none" strike="noStrike" baseline="0" dirty="0">
                <a:latin typeface="Times New Roman" panose="02020603050405020304" pitchFamily="18" charset="0"/>
              </a:rPr>
              <a:t>operator.</a:t>
            </a:r>
          </a:p>
          <a:p>
            <a:pPr marL="0" indent="0" algn="l">
              <a:buNone/>
            </a:pPr>
            <a:r>
              <a:rPr lang="en-US" sz="1800" b="0" i="0" u="none" strike="noStrike" baseline="0" dirty="0">
                <a:latin typeface="Times New Roman" panose="02020603050405020304" pitchFamily="18" charset="0"/>
              </a:rPr>
              <a:t>9. All hash directives can be ignored.</a:t>
            </a:r>
          </a:p>
          <a:p>
            <a:pPr marL="0" indent="0" algn="l">
              <a:buNone/>
            </a:pPr>
            <a:r>
              <a:rPr lang="en-US" sz="1800" b="0" i="0" u="none" strike="noStrike" baseline="0" dirty="0">
                <a:latin typeface="Times New Roman" panose="02020603050405020304" pitchFamily="18" charset="0"/>
              </a:rPr>
              <a:t>10. Comments are not considered.</a:t>
            </a:r>
          </a:p>
          <a:p>
            <a:pPr marL="0" indent="0" algn="l">
              <a:buNone/>
            </a:pPr>
            <a:r>
              <a:rPr lang="en-US" sz="1800" b="0" i="0" u="none" strike="noStrike" baseline="0" dirty="0">
                <a:latin typeface="Times New Roman" panose="02020603050405020304" pitchFamily="18" charset="0"/>
              </a:rPr>
              <a:t>11. In </a:t>
            </a:r>
            <a:r>
              <a:rPr lang="en-US" sz="1800" b="0" i="0" u="none" strike="noStrike" baseline="0" dirty="0" err="1">
                <a:latin typeface="Times New Roman" panose="02020603050405020304" pitchFamily="18" charset="0"/>
              </a:rPr>
              <a:t>Goto</a:t>
            </a:r>
            <a:r>
              <a:rPr lang="en-US" sz="1800" b="0" i="0" u="none" strike="noStrike" baseline="0" dirty="0">
                <a:latin typeface="Times New Roman" panose="02020603050405020304" pitchFamily="18" charset="0"/>
              </a:rPr>
              <a:t> statement, </a:t>
            </a:r>
            <a:r>
              <a:rPr lang="en-US" sz="1800" b="0" i="0" u="none" strike="noStrike" baseline="0" dirty="0" err="1">
                <a:latin typeface="Times New Roman" panose="02020603050405020304" pitchFamily="18" charset="0"/>
              </a:rPr>
              <a:t>goto</a:t>
            </a:r>
            <a:r>
              <a:rPr lang="en-US" sz="1800" b="0" i="0" u="none" strike="noStrike" baseline="0" dirty="0">
                <a:latin typeface="Times New Roman" panose="02020603050405020304" pitchFamily="18" charset="0"/>
              </a:rPr>
              <a:t> is considered as operator and label as operand.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40711441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BD035E0-D5D6-4E7E-BA9D-2A9F5B99B8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4337" y="1103994"/>
            <a:ext cx="8219684" cy="4209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109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B38B9-CD44-4750-B27E-0AD223D3A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  <a:endParaRPr lang="en-PK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3038D83-1C48-474E-8C9A-724052E16D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65454"/>
            <a:ext cx="5188217" cy="2635385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CEF78EA-C9E6-43CB-A662-4F32676D6D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3615" y="1726373"/>
            <a:ext cx="5550185" cy="182889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6CB4AF7-36BD-4000-A402-78B90696D3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0767" y="3183146"/>
            <a:ext cx="5435879" cy="1339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89781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B34F544-92AF-4D1A-A01F-4262DCF249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0194" y="937777"/>
            <a:ext cx="5334353" cy="4877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44786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98F22-31CC-4CE5-82DA-0E9D0576C6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F6E927-15D2-4415-9180-543B1DCD16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800" b="1" dirty="0"/>
              <a:t>Unique Operators </a:t>
            </a:r>
          </a:p>
          <a:p>
            <a:pPr lvl="1"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sz="1400" dirty="0"/>
              <a:t>void → reserved word → operator</a:t>
            </a:r>
          </a:p>
          <a:p>
            <a:pPr lvl="1">
              <a:spcBef>
                <a:spcPts val="0"/>
              </a:spcBef>
              <a:buFont typeface="Wingdings" panose="05000000000000000000" pitchFamily="2" charset="2"/>
              <a:buChar char="§"/>
            </a:pPr>
            <a:endParaRPr lang="en-US" sz="1400" dirty="0"/>
          </a:p>
          <a:p>
            <a:pPr lvl="1"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sz="1400" dirty="0"/>
              <a:t>() → brackets → operator</a:t>
            </a:r>
          </a:p>
          <a:p>
            <a:pPr lvl="1">
              <a:spcBef>
                <a:spcPts val="0"/>
              </a:spcBef>
              <a:buFont typeface="Wingdings" panose="05000000000000000000" pitchFamily="2" charset="2"/>
              <a:buChar char="§"/>
            </a:pPr>
            <a:endParaRPr lang="en-US" sz="1400" dirty="0"/>
          </a:p>
          <a:p>
            <a:pPr lvl="1"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sz="1400" dirty="0"/>
              <a:t>{} → block braces → operator</a:t>
            </a:r>
          </a:p>
          <a:p>
            <a:pPr lvl="1">
              <a:spcBef>
                <a:spcPts val="0"/>
              </a:spcBef>
              <a:buFont typeface="Wingdings" panose="05000000000000000000" pitchFamily="2" charset="2"/>
              <a:buChar char="§"/>
            </a:pPr>
            <a:endParaRPr lang="en-US" sz="1400" dirty="0"/>
          </a:p>
          <a:p>
            <a:pPr lvl="1"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sz="1400" dirty="0"/>
              <a:t>; → semicolon → operator</a:t>
            </a:r>
          </a:p>
          <a:p>
            <a:pPr lvl="1"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sz="1400" dirty="0" err="1"/>
              <a:t>sayHello</a:t>
            </a:r>
            <a:r>
              <a:rPr lang="en-US" sz="1400" dirty="0"/>
              <a:t> → function call → operator</a:t>
            </a:r>
          </a:p>
          <a:p>
            <a:pPr>
              <a:spcBef>
                <a:spcPts val="0"/>
              </a:spcBef>
            </a:pPr>
            <a:endParaRPr lang="en-US" sz="1800" dirty="0"/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/>
              <a:t>Unique Operators (n₁) = 5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1" dirty="0"/>
              <a:t>Unique Operands</a:t>
            </a:r>
          </a:p>
          <a:p>
            <a:pPr lvl="1">
              <a:spcBef>
                <a:spcPts val="0"/>
              </a:spcBef>
            </a:pPr>
            <a:r>
              <a:rPr lang="en-US" sz="1400" dirty="0"/>
              <a:t>greet → method name in declaration → operand</a:t>
            </a:r>
          </a:p>
          <a:p>
            <a:pPr>
              <a:spcBef>
                <a:spcPts val="0"/>
              </a:spcBef>
            </a:pPr>
            <a:endParaRPr lang="en-US" sz="1800" dirty="0"/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/>
              <a:t>Unique Operands (n₂) = 1</a:t>
            </a:r>
            <a:endParaRPr lang="en-PK" sz="18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7E9F241-EF83-4045-A3BD-BB5A1B2E3F3C}"/>
              </a:ext>
            </a:extLst>
          </p:cNvPr>
          <p:cNvSpPr/>
          <p:nvPr/>
        </p:nvSpPr>
        <p:spPr>
          <a:xfrm>
            <a:off x="6096000" y="2175309"/>
            <a:ext cx="3676851" cy="16747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  <a:r>
              <a:rPr lang="en-US" sz="1800" dirty="0"/>
              <a:t>void greet() {</a:t>
            </a:r>
          </a:p>
          <a:p>
            <a:pPr algn="ctr">
              <a:spcBef>
                <a:spcPts val="0"/>
              </a:spcBef>
            </a:pPr>
            <a:r>
              <a:rPr lang="en-US" sz="1800" dirty="0"/>
              <a:t>    </a:t>
            </a:r>
            <a:r>
              <a:rPr lang="en-US" sz="1800" dirty="0" err="1"/>
              <a:t>sayHello</a:t>
            </a:r>
            <a:r>
              <a:rPr lang="en-US" sz="1800" dirty="0"/>
              <a:t>();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en-US" sz="18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8606149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</TotalTime>
  <Words>417</Words>
  <Application>Microsoft Office PowerPoint</Application>
  <PresentationFormat>Widescreen</PresentationFormat>
  <Paragraphs>53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Arial</vt:lpstr>
      <vt:lpstr>Calibri</vt:lpstr>
      <vt:lpstr>Calibri Light</vt:lpstr>
      <vt:lpstr>Nunito</vt:lpstr>
      <vt:lpstr>Times New Roman</vt:lpstr>
      <vt:lpstr>TimesNewRomanPS-BoldMT</vt:lpstr>
      <vt:lpstr>TimesNewRomanPSMT</vt:lpstr>
      <vt:lpstr>Wingdings</vt:lpstr>
      <vt:lpstr>Office Theme</vt:lpstr>
      <vt:lpstr>Halstead’s Software Science</vt:lpstr>
      <vt:lpstr>Halstead’s Software Science </vt:lpstr>
      <vt:lpstr> Program length (N): </vt:lpstr>
      <vt:lpstr> Halstead Vocabulary </vt:lpstr>
      <vt:lpstr> Program Volume </vt:lpstr>
      <vt:lpstr>Program difficulty</vt:lpstr>
      <vt:lpstr>Program Effort</vt:lpstr>
      <vt:lpstr>Guidelines for calculating operators and operands </vt:lpstr>
      <vt:lpstr>PowerPoint Presentation</vt:lpstr>
      <vt:lpstr>Example</vt:lpstr>
      <vt:lpstr>PowerPoint Presentation</vt:lpstr>
      <vt:lpstr>Example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Halstead’s Software Science</dc:title>
  <dc:creator>Fatima gillani</dc:creator>
  <cp:lastModifiedBy>Fatima gillani</cp:lastModifiedBy>
  <cp:revision>7</cp:revision>
  <dcterms:created xsi:type="dcterms:W3CDTF">2025-09-17T03:27:01Z</dcterms:created>
  <dcterms:modified xsi:type="dcterms:W3CDTF">2025-09-19T10:02:43Z</dcterms:modified>
</cp:coreProperties>
</file>